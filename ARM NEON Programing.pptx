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3.pn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4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5.pn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6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ARM NEON Programing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Jintao Meng</a:t>
            </a:r>
            <a:endParaRPr lang="en-US" altLang="zh-CN"/>
          </a:p>
          <a:p>
            <a:r>
              <a:rPr lang="en-US" altLang="zh-CN"/>
              <a:t>2026.10.8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CPU Affinity Experiments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708775" cy="4759325"/>
          </a:xfrm>
        </p:spPr>
        <p:txBody>
          <a:bodyPr>
            <a:normAutofit fontScale="90000" lnSpcReduction="10000"/>
          </a:bodyPr>
          <a:p>
            <a:r>
              <a:rPr lang="en-US" altLang="zh-CN"/>
              <a:t>CPU</a:t>
            </a:r>
            <a:r>
              <a:rPr lang="zh-CN" altLang="en-US"/>
              <a:t>绑核</a:t>
            </a:r>
            <a:r>
              <a:rPr lang="zh-CN" altLang="en-US"/>
              <a:t>作用</a:t>
            </a:r>
            <a:endParaRPr lang="zh-CN" altLang="en-US"/>
          </a:p>
          <a:p>
            <a:pPr lvl="1"/>
            <a:r>
              <a:rPr lang="zh-CN" altLang="en-US" sz="1800">
                <a:sym typeface="+mn-ea"/>
              </a:rPr>
              <a:t>指定需要运行代码的大小核</a:t>
            </a:r>
            <a:r>
              <a:rPr lang="en-US" altLang="zh-CN" sz="1800">
                <a:sym typeface="+mn-ea"/>
              </a:rPr>
              <a:t>：</a:t>
            </a:r>
            <a:endParaRPr lang="en-US" altLang="zh-CN" sz="1800"/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提高缓存命中率，减少性能抖动</a:t>
            </a:r>
            <a:endParaRPr lang="zh-CN" altLang="en-US" sz="1800">
              <a:sym typeface="+mn-ea"/>
            </a:endParaRPr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保证关键任务的独占性 / 隔离性</a:t>
            </a:r>
            <a:endParaRPr lang="zh-CN" altLang="en-US" sz="1800">
              <a:sym typeface="+mn-ea"/>
            </a:endParaRPr>
          </a:p>
          <a:p>
            <a:pPr marL="457200" lvl="1" indent="0">
              <a:buNone/>
            </a:pP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指定程序运行的</a:t>
            </a:r>
            <a:r>
              <a:rPr lang="en-US" altLang="zh-CN" sz="1800">
                <a:sym typeface="+mn-ea"/>
              </a:rPr>
              <a:t>CPU toplogy： </a:t>
            </a:r>
            <a:endParaRPr lang="en-US" altLang="zh-CN" sz="1800"/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降低跨 </a:t>
            </a:r>
            <a:r>
              <a:rPr lang="en-US" altLang="zh-CN" sz="1800">
                <a:sym typeface="+mn-ea"/>
              </a:rPr>
              <a:t>NUMA </a:t>
            </a:r>
            <a:r>
              <a:rPr lang="zh-CN" altLang="en-US" sz="1800">
                <a:sym typeface="+mn-ea"/>
              </a:rPr>
              <a:t>节点访问开销</a:t>
            </a:r>
            <a:endParaRPr lang="zh-CN" altLang="en-US" sz="1800"/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提升多线程程序的确定性</a:t>
            </a:r>
            <a:endParaRPr lang="zh-CN" altLang="en-US" sz="1800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主要</a:t>
            </a:r>
            <a:r>
              <a:rPr lang="zh-CN" altLang="en-US"/>
              <a:t>函数</a:t>
            </a:r>
            <a:endParaRPr lang="zh-CN" altLang="en-US"/>
          </a:p>
          <a:p>
            <a:pPr lvl="1" algn="l">
              <a:buClrTx/>
              <a:buSzTx/>
            </a:pPr>
            <a:r>
              <a:rPr lang="zh-CN" altLang="en-US" sz="1800"/>
              <a:t>Linux：taskset、numactl、sched_setaffinity() 系统调用</a:t>
            </a:r>
            <a:endParaRPr lang="zh-CN" altLang="en-US" sz="1800"/>
          </a:p>
          <a:p>
            <a:pPr lvl="1" algn="l">
              <a:buClrTx/>
              <a:buSzTx/>
            </a:pPr>
            <a:r>
              <a:rPr lang="zh-CN" altLang="en-US" sz="1800"/>
              <a:t>编程接口：pthread_setaffinity_np()</a:t>
            </a:r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565" y="1050290"/>
            <a:ext cx="5004435" cy="580771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6739255" y="1489710"/>
            <a:ext cx="5551170" cy="54851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42000" y="1330325"/>
            <a:ext cx="6350000" cy="5360670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5400" y="62491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CN"/>
              <a:t>CPU Affinity Experiments</a:t>
            </a:r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8330" y="1490345"/>
            <a:ext cx="6708775" cy="475932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CPU</a:t>
            </a:r>
            <a:r>
              <a:rPr lang="zh-CN" altLang="en-US"/>
              <a:t>绑核</a:t>
            </a:r>
            <a:r>
              <a:rPr lang="zh-CN" altLang="en-US"/>
              <a:t>作用</a:t>
            </a:r>
            <a:endParaRPr lang="zh-CN" altLang="en-US"/>
          </a:p>
          <a:p>
            <a:pPr lvl="1"/>
            <a:r>
              <a:rPr lang="zh-CN" altLang="en-US" sz="1800">
                <a:sym typeface="+mn-ea"/>
              </a:rPr>
              <a:t>指定需要运行代码的大小核</a:t>
            </a:r>
            <a:r>
              <a:rPr lang="en-US" altLang="zh-CN" sz="1800">
                <a:sym typeface="+mn-ea"/>
              </a:rPr>
              <a:t>：</a:t>
            </a:r>
            <a:endParaRPr lang="en-US" altLang="zh-CN" sz="1800"/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提高缓存命中率，减少性能抖动</a:t>
            </a:r>
            <a:endParaRPr lang="zh-CN" altLang="en-US" sz="1800">
              <a:sym typeface="+mn-ea"/>
            </a:endParaRPr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保证关键任务的独占性 / 隔离性</a:t>
            </a:r>
            <a:endParaRPr lang="zh-CN" altLang="en-US" sz="1800">
              <a:sym typeface="+mn-ea"/>
            </a:endParaRPr>
          </a:p>
          <a:p>
            <a:pPr marL="457200" lvl="1" indent="0">
              <a:buNone/>
            </a:pP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指定程序运行的</a:t>
            </a:r>
            <a:r>
              <a:rPr lang="en-US" altLang="zh-CN" sz="1800">
                <a:sym typeface="+mn-ea"/>
              </a:rPr>
              <a:t>CPU toplogy： </a:t>
            </a:r>
            <a:endParaRPr lang="en-US" altLang="zh-CN" sz="1800"/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降低跨 </a:t>
            </a:r>
            <a:r>
              <a:rPr lang="en-US" altLang="zh-CN" sz="1800">
                <a:sym typeface="+mn-ea"/>
              </a:rPr>
              <a:t>NUMA </a:t>
            </a:r>
            <a:r>
              <a:rPr lang="zh-CN" altLang="en-US" sz="1800">
                <a:sym typeface="+mn-ea"/>
              </a:rPr>
              <a:t>节点访问开销</a:t>
            </a:r>
            <a:endParaRPr lang="zh-CN" altLang="en-US" sz="1800"/>
          </a:p>
          <a:p>
            <a:pPr lvl="2">
              <a:buFont typeface="Wingdings" panose="05000000000000000000" charset="0"/>
              <a:buChar char=""/>
            </a:pPr>
            <a:r>
              <a:rPr lang="zh-CN" altLang="en-US" sz="1800">
                <a:sym typeface="+mn-ea"/>
              </a:rPr>
              <a:t>提升多线程程序的确定性</a:t>
            </a:r>
            <a:endParaRPr lang="zh-CN" altLang="en-US" sz="1800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主要</a:t>
            </a:r>
            <a:r>
              <a:rPr lang="zh-CN" altLang="en-US"/>
              <a:t>函数</a:t>
            </a:r>
            <a:endParaRPr lang="zh-CN" altLang="en-US"/>
          </a:p>
          <a:p>
            <a:pPr lvl="1" algn="l">
              <a:buClrTx/>
              <a:buSzTx/>
            </a:pPr>
            <a:r>
              <a:rPr lang="zh-CN" altLang="en-US" sz="1800"/>
              <a:t>Linux：taskset、numactl、</a:t>
            </a:r>
            <a:endParaRPr lang="zh-CN" altLang="en-US" sz="1800"/>
          </a:p>
          <a:p>
            <a:pPr marL="457200" lvl="1" indent="0" algn="l">
              <a:buClrTx/>
              <a:buSzTx/>
              <a:buNone/>
            </a:pPr>
            <a:r>
              <a:rPr lang="zh-CN" altLang="en-US" sz="1800"/>
              <a:t>sched_setaffinity() 系统调用</a:t>
            </a:r>
            <a:endParaRPr lang="zh-CN" altLang="en-US" sz="1800"/>
          </a:p>
          <a:p>
            <a:pPr lvl="1" algn="l">
              <a:buClrTx/>
              <a:buSzTx/>
            </a:pPr>
            <a:r>
              <a:rPr lang="zh-CN" altLang="en-US" sz="1800"/>
              <a:t>编程接口：pthread_setaffinity_np()</a:t>
            </a:r>
            <a:endParaRPr lang="zh-CN" altLang="en-US" sz="1800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Vectorised Dot Product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8034655" cy="4759325"/>
          </a:xfrm>
        </p:spPr>
        <p:txBody>
          <a:bodyPr/>
          <a:p>
            <a:r>
              <a:rPr lang="zh-CN" altLang="en-US"/>
              <a:t>计算</a:t>
            </a:r>
            <a:r>
              <a:rPr lang="en-US" altLang="zh-CN"/>
              <a:t>2</a:t>
            </a:r>
            <a:r>
              <a:rPr lang="zh-CN" altLang="en-US"/>
              <a:t>个数组</a:t>
            </a:r>
            <a:r>
              <a:rPr lang="en-US" altLang="zh-CN"/>
              <a:t>/</a:t>
            </a:r>
            <a:r>
              <a:rPr lang="zh-CN" altLang="en-US"/>
              <a:t>向量的点</a:t>
            </a:r>
            <a:r>
              <a:rPr lang="zh-CN" altLang="en-US"/>
              <a:t>积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loop</a:t>
            </a:r>
            <a:r>
              <a:rPr lang="zh-CN" altLang="en-US"/>
              <a:t>跳跃</a:t>
            </a:r>
            <a:r>
              <a:rPr lang="en-US" altLang="zh-CN"/>
              <a:t>+4</a:t>
            </a:r>
            <a:r>
              <a:rPr lang="zh-CN" altLang="en-US"/>
              <a:t>是一个向量宽度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尾部</a:t>
            </a:r>
            <a:r>
              <a:rPr lang="zh-CN" altLang="en-US"/>
              <a:t>处理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Naive</a:t>
            </a:r>
            <a:r>
              <a:rPr lang="zh-CN" altLang="en-US"/>
              <a:t>代码和</a:t>
            </a:r>
            <a:r>
              <a:rPr lang="en-US" altLang="zh-CN"/>
              <a:t>NEON</a:t>
            </a:r>
            <a:r>
              <a:rPr lang="zh-CN" altLang="en-US"/>
              <a:t>代码</a:t>
            </a:r>
            <a:r>
              <a:rPr lang="en-US" altLang="zh-CN"/>
              <a:t> </a:t>
            </a:r>
            <a:r>
              <a:rPr lang="zh-CN" altLang="en-US"/>
              <a:t>互校验</a:t>
            </a:r>
            <a:r>
              <a:rPr lang="en-US" altLang="zh-CN"/>
              <a:t>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1313815"/>
            <a:ext cx="6743700" cy="55441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I8MM: Integer Matrix Multiply</a:t>
            </a:r>
            <a:endParaRPr lang="en-US" altLang="zh-CN"/>
          </a:p>
        </p:txBody>
      </p:sp>
      <p:sp>
        <p:nvSpPr>
          <p:cNvPr id="5" name="内容占位符 4"/>
          <p:cNvSpPr/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167120" cy="4759325"/>
          </a:xfrm>
        </p:spPr>
        <p:txBody>
          <a:bodyPr/>
          <a:p>
            <a:r>
              <a:rPr lang="zh-CN" altLang="en-US"/>
              <a:t>实现</a:t>
            </a:r>
            <a:r>
              <a:rPr lang="en-US" altLang="zh-CN"/>
              <a:t>INT8</a:t>
            </a:r>
            <a:r>
              <a:rPr lang="zh-CN" altLang="en-US">
                <a:sym typeface="+mn-ea"/>
              </a:rPr>
              <a:t>矩阵乘法</a:t>
            </a:r>
            <a:r>
              <a:rPr lang="en-US" altLang="zh-CN">
                <a:sym typeface="+mn-ea"/>
              </a:rPr>
              <a:t>:</a:t>
            </a:r>
            <a:endParaRPr lang="zh-CN" altLang="en-US">
              <a:sym typeface="+mn-ea"/>
            </a:endParaRPr>
          </a:p>
          <a:p>
            <a:pPr marL="0" indent="457200">
              <a:buNone/>
            </a:pPr>
            <a:r>
              <a:rPr lang="en-US" altLang="zh-CN">
                <a:sym typeface="+mn-ea"/>
              </a:rPr>
              <a:t>A[2][8] X B[8][2] = C[2][2]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INT8</a:t>
            </a:r>
            <a:r>
              <a:rPr lang="zh-CN" altLang="en-US"/>
              <a:t>的矩阵乘法</a:t>
            </a:r>
            <a:r>
              <a:rPr lang="en-US" altLang="zh-CN"/>
              <a:t>inner kernel</a:t>
            </a:r>
            <a:r>
              <a:rPr lang="zh-CN" altLang="en-US"/>
              <a:t>写法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</a:t>
            </a:r>
            <a:r>
              <a:rPr lang="en-US" altLang="zh-CN"/>
              <a:t>data layout</a:t>
            </a:r>
            <a:r>
              <a:rPr lang="zh-CN" altLang="en-US"/>
              <a:t>数据</a:t>
            </a:r>
            <a:r>
              <a:rPr lang="zh-CN" altLang="en-US"/>
              <a:t>排布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92750" y="1664335"/>
            <a:ext cx="6699250" cy="49212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SME and SME2: Scalable Matrix Extension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269355" cy="4759325"/>
          </a:xfrm>
        </p:spPr>
        <p:txBody>
          <a:bodyPr>
            <a:normAutofit lnSpcReduction="10000"/>
          </a:bodyPr>
          <a:p>
            <a:r>
              <a:rPr lang="zh-CN" altLang="en-US"/>
              <a:t>使用</a:t>
            </a:r>
            <a:r>
              <a:rPr lang="en-US" altLang="zh-CN"/>
              <a:t>SME/SME2</a:t>
            </a:r>
            <a:r>
              <a:rPr lang="zh-CN" altLang="en-US"/>
              <a:t>指令实现</a:t>
            </a:r>
            <a:r>
              <a:rPr lang="en-US" altLang="zh-CN"/>
              <a:t>8X8</a:t>
            </a:r>
            <a:r>
              <a:rPr lang="zh-CN" altLang="en-US"/>
              <a:t>的矩阵</a:t>
            </a:r>
            <a:r>
              <a:rPr lang="zh-CN" altLang="en-US"/>
              <a:t>乘法</a:t>
            </a:r>
            <a:endParaRPr lang="zh-CN" altLang="en-US"/>
          </a:p>
          <a:p>
            <a:pPr marL="0" lvl="1" indent="0">
              <a:buNone/>
            </a:pPr>
            <a:r>
              <a:rPr lang="en-US" altLang="zh-CN">
                <a:sym typeface="+mn-ea"/>
              </a:rPr>
              <a:t>      A[8][8] x B[8][8] = C[8][8]</a:t>
            </a:r>
            <a:endParaRPr lang="en-US" altLang="zh-CN"/>
          </a:p>
          <a:p>
            <a:pPr marL="457200" lvl="1" indent="0">
              <a:buNone/>
            </a:pPr>
            <a:endParaRPr lang="zh-CN" altLang="en-US"/>
          </a:p>
          <a:p>
            <a:r>
              <a:rPr lang="zh-CN" altLang="en-US"/>
              <a:t>矩阵排布</a:t>
            </a:r>
            <a:r>
              <a:rPr lang="en-US" altLang="zh-CN"/>
              <a:t>，</a:t>
            </a:r>
            <a:r>
              <a:rPr lang="zh-CN" altLang="en-US"/>
              <a:t>行列布局</a:t>
            </a:r>
            <a:r>
              <a:rPr lang="en-US" altLang="zh-CN"/>
              <a:t>/</a:t>
            </a:r>
            <a:r>
              <a:rPr lang="zh-CN" altLang="en-US"/>
              <a:t>行主</a:t>
            </a:r>
            <a:r>
              <a:rPr lang="zh-CN" altLang="en-US"/>
              <a:t>序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数据访问的</a:t>
            </a:r>
            <a:r>
              <a:rPr lang="en-US" altLang="zh-CN">
                <a:sym typeface="+mn-ea"/>
              </a:rPr>
              <a:t>footprint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矩阵</a:t>
            </a:r>
            <a:r>
              <a:rPr lang="en-US" altLang="zh-CN">
                <a:sym typeface="+mn-ea"/>
              </a:rPr>
              <a:t>packing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数据预取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数据读写和计算延迟掩盖技术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寄存器位宽计算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和</a:t>
            </a:r>
            <a:r>
              <a:rPr lang="zh-CN" altLang="en-US">
                <a:sym typeface="+mn-ea"/>
              </a:rPr>
              <a:t>真实算力计算</a:t>
            </a:r>
            <a:endParaRPr lang="zh-CN" altLang="en-US"/>
          </a:p>
          <a:p>
            <a:endParaRPr lang="zh-CN" altLang="en-US"/>
          </a:p>
          <a:p>
            <a:pPr marL="457200" lvl="1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010" y="1313815"/>
            <a:ext cx="6269990" cy="5448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WPS 演示</Application>
  <PresentationFormat>宽屏</PresentationFormat>
  <Paragraphs>73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Apple Color Emoji</vt:lpstr>
      <vt:lpstr>WPS</vt:lpstr>
      <vt:lpstr>PowerPoint 演示文稿</vt:lpstr>
      <vt:lpstr>PowerPoint 演示文稿</vt:lpstr>
      <vt:lpstr>CPU Affinity Experiments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孟金涛</cp:lastModifiedBy>
  <cp:revision>177</cp:revision>
  <dcterms:created xsi:type="dcterms:W3CDTF">2026-10-07T06:36:29Z</dcterms:created>
  <dcterms:modified xsi:type="dcterms:W3CDTF">2026-10-07T06:36:29Z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8DE8AAD1A3B86D7A6DE8C56AABE0A6E6_43</vt:lpwstr>
  </property>
</Properties>
</file>